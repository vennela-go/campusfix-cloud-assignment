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640080"/>
            <a:ext cx="2103120" cy="21031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219456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749039"/>
            <a:ext cx="1463040" cy="14630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5B4FC"/>
                </a:solidFill>
                <a:latin typeface="Aptos"/>
              </a:defRPr>
            </a:pPr>
            <a:r>
              <a:t>CLOUD COMPUTING  /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"/>
              </a:defRPr>
            </a:pPr>
            <a:r>
              <a:t>CampusFix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0">
                <a:solidFill>
                  <a:srgbClr val="DCE2FF"/>
                </a:solidFill>
                <a:latin typeface="Aptos"/>
              </a:defRPr>
            </a:pPr>
            <a:r>
              <a:t>Smart Campus Issue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End-to-end CI/CD with Jenkins, Docker and 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3DAEF"/>
                </a:solidFill>
                <a:latin typeface="Aptos"/>
              </a:defRPr>
            </a:pPr>
            <a:r>
              <a:t>Team: Vennela Godari (Lead)  •  Gopi Bhukya  •  Saipuja Vadla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Aptos"/>
              </a:defRPr>
            </a:pPr>
            <a:r>
              <a:t>Submission deadline: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Small campus problems are often reported informally and are difficult to track.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Scattered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39"/>
            <a:ext cx="30175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Students may report broken equipment, Wi-Fi outages or leaks through different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2011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Low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39"/>
            <a:ext cx="30175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People cannot easily see whether an issue is open, being fixed or resolved.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019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Manual releases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39"/>
            <a:ext cx="30175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Developers often repeat build, test, package and deployment steps by hand.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82240"/>
                </a:solidFill>
                <a:latin typeface="Aptos"/>
              </a:defRPr>
            </a:pPr>
            <a:r>
              <a:t>CampusFix demonstrates a simple reporting workflow and an automated path from source code to a running container.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Build a small app and use it to demonstrate the complete delivery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182240"/>
                </a:solidFill>
                <a:latin typeface="Aptos"/>
              </a:defRPr>
            </a:pPr>
            <a:r>
              <a:t>•  Create, view, update status, and delete campus issues.</a:t>
            </a:r>
          </a:p>
          <a:p>
            <a:pPr>
              <a:spcAft>
                <a:spcPts val="1700"/>
              </a:spcAft>
              <a:defRPr sz="2000">
                <a:solidFill>
                  <a:srgbClr val="182240"/>
                </a:solidFill>
                <a:latin typeface="Aptos"/>
              </a:defRPr>
            </a:pPr>
            <a:r>
              <a:t>•  Provide a responsive web interface and JSON REST API.</a:t>
            </a:r>
          </a:p>
          <a:p>
            <a:pPr>
              <a:spcAft>
                <a:spcPts val="1700"/>
              </a:spcAft>
              <a:defRPr sz="2000">
                <a:solidFill>
                  <a:srgbClr val="182240"/>
                </a:solidFill>
                <a:latin typeface="Aptos"/>
              </a:defRPr>
            </a:pPr>
            <a:r>
              <a:t>•  Package the Java application as an executable JAR.</a:t>
            </a:r>
          </a:p>
          <a:p>
            <a:pPr>
              <a:spcAft>
                <a:spcPts val="1700"/>
              </a:spcAft>
              <a:defRPr sz="2000">
                <a:solidFill>
                  <a:srgbClr val="182240"/>
                </a:solidFill>
                <a:latin typeface="Aptos"/>
              </a:defRPr>
            </a:pPr>
            <a:r>
              <a:t>•  Build and test changes automatically with Jenkins.</a:t>
            </a:r>
          </a:p>
          <a:p>
            <a:pPr>
              <a:spcAft>
                <a:spcPts val="1700"/>
              </a:spcAft>
              <a:defRPr sz="2000">
                <a:solidFill>
                  <a:srgbClr val="182240"/>
                </a:solidFill>
                <a:latin typeface="Aptos"/>
              </a:defRPr>
            </a:pPr>
            <a:r>
              <a:t>•  Package the app with Docker and run it with Kubernetes.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Each tool has a distinct responsibility in the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3063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Java + built-in HTTP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306323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Application and REST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3063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Maven + Python smoke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06323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Build the JAR and check CRUD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3063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06323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Version control and source repository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7315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47872"/>
            <a:ext cx="3063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Jenkins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23360"/>
            <a:ext cx="306323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Automate build, test, image and deployment stages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832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383280"/>
            <a:ext cx="73152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547872"/>
            <a:ext cx="3063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023360"/>
            <a:ext cx="306323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Package JAR and Java runtime into an image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3832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3832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547872"/>
            <a:ext cx="3063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Kubernetes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023360"/>
            <a:ext cx="306323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Manage Pods, replicas, health checks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A code change can travel through the pipeline and reach the running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3172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40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218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7089"/>
                </a:solidFill>
                <a:latin typeface="Aptos"/>
              </a:defRPr>
            </a:pPr>
            <a:r>
              <a:t>Push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33172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40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3218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7089"/>
                </a:solidFill>
                <a:latin typeface="Aptos"/>
              </a:defRPr>
            </a:pPr>
            <a:r>
              <a:t>Store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33172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40"/>
                </a:solidFill>
                <a:latin typeface="Aptos"/>
              </a:defRPr>
            </a:pPr>
            <a:r>
              <a:t>Jenkins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218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7089"/>
                </a:solidFill>
                <a:latin typeface="Aptos"/>
              </a:defRPr>
            </a:pPr>
            <a:r>
              <a:t>Build +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33172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40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218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7089"/>
                </a:solidFill>
                <a:latin typeface="Aptos"/>
              </a:defRPr>
            </a:pPr>
            <a:r>
              <a:t>Build + push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7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233172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7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40"/>
                </a:solidFill>
                <a:latin typeface="Aptos"/>
              </a:defRPr>
            </a:pPr>
            <a:r>
              <a:t>Kubernetes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3218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7089"/>
                </a:solidFill>
                <a:latin typeface="Aptos"/>
              </a:defRPr>
            </a:pPr>
            <a:r>
              <a:t>Run 2 replicas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233172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1007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9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40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4432" y="3218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7089"/>
                </a:solidFill>
                <a:latin typeface="Aptos"/>
              </a:defRPr>
            </a:pPr>
            <a:r>
              <a:t>Use CampusFix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7091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2240"/>
                </a:solidFill>
                <a:latin typeface="Aptos"/>
              </a:defRPr>
            </a:pPr>
            <a:r>
              <a:t>CI: build and test automatically   •   CD: publish and deploy the tested image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Application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CampusFix starts simple: no database or login is required for this classroom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057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Issue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971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Lists sample and user-submitted issues. Filter by Open, In Progress or Resolved.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20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1051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Issue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971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GET /api/issues</a:t>
            </a:r>
            <a:br/>
            <a:r>
              <a:t>POST /api/issues</a:t>
            </a:r>
            <a:br/>
            <a:r>
              <a:t>PUT /api/issues/{id}</a:t>
            </a:r>
            <a:br/>
            <a:r>
              <a:t>DELETE /api/issues/{id}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2057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1051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Health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2971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GET /health returns UP. Kubernetes probes use it to check the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7089"/>
                </a:solidFill>
                <a:latin typeface="Aptos"/>
              </a:defRPr>
            </a:pPr>
            <a:r>
              <a:t>Data is kept in memory, so reports reset when the application restarts. A database can be a future enhancement.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Jenkins 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Jenkins executes the pipeline steps defined in the Jenkinsfile.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82240"/>
                </a:solidFill>
                <a:latin typeface="Aptos"/>
              </a:defRPr>
            </a:pPr>
            <a:r>
              <a:t>•  Checkout: download the latest source from Git.</a:t>
            </a:r>
          </a:p>
          <a:p>
            <a:pPr>
              <a:spcAft>
                <a:spcPts val="1700"/>
              </a:spcAft>
              <a:defRPr sz="1900">
                <a:solidFill>
                  <a:srgbClr val="182240"/>
                </a:solidFill>
                <a:latin typeface="Aptos"/>
              </a:defRPr>
            </a:pPr>
            <a:r>
              <a:t>•  Build JAR: run Maven package.</a:t>
            </a:r>
          </a:p>
          <a:p>
            <a:pPr>
              <a:spcAft>
                <a:spcPts val="1700"/>
              </a:spcAft>
              <a:defRPr sz="1900">
                <a:solidFill>
                  <a:srgbClr val="182240"/>
                </a:solidFill>
                <a:latin typeface="Aptos"/>
              </a:defRPr>
            </a:pPr>
            <a:r>
              <a:t>•  Smoke test: verify health and create/update/delete APIs.</a:t>
            </a:r>
          </a:p>
          <a:p>
            <a:pPr>
              <a:spcAft>
                <a:spcPts val="1700"/>
              </a:spcAft>
              <a:defRPr sz="1900">
                <a:solidFill>
                  <a:srgbClr val="182240"/>
                </a:solidFill>
                <a:latin typeface="Aptos"/>
              </a:defRPr>
            </a:pPr>
            <a:r>
              <a:t>•  Build and push Docker image to Docker Hub.</a:t>
            </a:r>
          </a:p>
          <a:p>
            <a:pPr>
              <a:spcAft>
                <a:spcPts val="1700"/>
              </a:spcAft>
              <a:defRPr sz="1900">
                <a:solidFill>
                  <a:srgbClr val="182240"/>
                </a:solidFill>
                <a:latin typeface="Aptos"/>
              </a:defRPr>
            </a:pPr>
            <a:r>
              <a:t>•  Deploy manifests to Kubernetes and wait for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Docker and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The image is the package; Kubernetes runs and manages instances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8920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2331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01952"/>
            <a:ext cx="44805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Docker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39"/>
            <a:ext cx="4480559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Dockerfile starts from a Java 17 runtime, copies target/campusfix.jar, exposes port 8080 and starts Java.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37360"/>
            <a:ext cx="48920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737360"/>
            <a:ext cx="73152" cy="2331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01952"/>
            <a:ext cx="44805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40"/>
                </a:solidFill>
                <a:latin typeface="Aptos"/>
              </a:defRPr>
            </a:pPr>
            <a:r>
              <a:t>Kubernetes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39"/>
            <a:ext cx="4480559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Deployment asks for 2 replicas and health probes. Service exposes the app on NodePort 30080 for local demos.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82240"/>
                </a:solidFill>
                <a:latin typeface="Aptos"/>
              </a:defRPr>
            </a:pPr>
            <a:r>
              <a:t>Local demonstration URL: http://localhost:30080 (when Kubernetes is configured)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240"/>
                </a:solidFill>
                <a:latin typeface="Aptos"/>
              </a:defRPr>
            </a:pPr>
            <a:r>
              <a:t>Implementation and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7089"/>
                </a:solidFill>
                <a:latin typeface="Aptos"/>
              </a:defRPr>
            </a:pPr>
            <a:r>
              <a:t>Replace these evidence prompts with genuine screenshots after running your setup.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3CCD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82240"/>
                </a:solidFill>
                <a:latin typeface="Aptos"/>
              </a:defRPr>
            </a:pPr>
            <a:r>
              <a:t>1.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7089"/>
                </a:solidFill>
                <a:latin typeface="Aptos"/>
              </a:defRPr>
            </a:pPr>
            <a:r>
              <a:t>Paste CampusFix running at localhost:8080 or localhost:30080.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3CCD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82240"/>
                </a:solidFill>
                <a:latin typeface="Aptos"/>
              </a:defRPr>
            </a:pPr>
            <a:r>
              <a:t>2. 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7089"/>
                </a:solidFill>
                <a:latin typeface="Aptos"/>
              </a:defRPr>
            </a:pPr>
            <a:r>
              <a:t>Paste a successful pipeline stage view and build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3CCD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82240"/>
                </a:solidFill>
                <a:latin typeface="Aptos"/>
              </a:defRPr>
            </a:pPr>
            <a:r>
              <a:t>3. 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7089"/>
                </a:solidFill>
                <a:latin typeface="Aptos"/>
              </a:defRPr>
            </a:pPr>
            <a:r>
              <a:t>Paste kubectl get pods,svc showing ready Pods and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Aptos"/>
              </a:defRPr>
            </a:pPr>
            <a:r>
              <a:t>Do not claim a pipeline passed until you have run it and captured the actual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37089"/>
                </a:solidFill>
                <a:latin typeface="Aptos"/>
              </a:defRPr>
            </a:pPr>
            <a:r>
              <a:t>CAMPUSFIX  •  CLOUD COMPUTING ASSIGNMENT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3708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5B4FC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✓  Automated build and smoke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243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✓  Consistent packaging with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912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✓  Container rollout and health checks in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5B4FC"/>
                </a:solidFill>
                <a:latin typeface="Aptos"/>
              </a:defRPr>
            </a:pPr>
            <a:r>
              <a:t>Possible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57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→  Database persistence and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243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→  Issue ownership, search and email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9125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→  Monitoring, ingress and cloud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Thank you  | 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26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9C3DF"/>
                </a:solidFill>
                <a:latin typeface="Aptos"/>
              </a:defRPr>
            </a:pPr>
            <a:r>
              <a:t>Team: Vennela Godari • Gopi Bhukya • Saipuja Vadla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9C3D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